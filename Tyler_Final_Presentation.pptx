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8"/>
  </p:normalViewPr>
  <p:slideViewPr>
    <p:cSldViewPr snapToGrid="0" snapToObjects="1">
      <p:cViewPr varScale="1">
        <p:scale>
          <a:sx n="122" d="100"/>
          <a:sy n="122" d="100"/>
        </p:scale>
        <p:origin x="2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49166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4F7FC"/>
                </a:solidFill>
              </a:defRPr>
            </a:pPr>
            <a:r>
              <a:rPr lang="en-US" dirty="0"/>
              <a:t>Simple jumping</a:t>
            </a:r>
            <a:br>
              <a:rPr dirty="0"/>
            </a:br>
            <a:r>
              <a:rPr dirty="0"/>
              <a:t>Platformer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24912"/>
            <a:ext cx="2252155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AEB8CC"/>
                </a:solidFill>
              </a:defRPr>
            </a:pPr>
            <a:r>
              <a:rPr lang="en-US" dirty="0"/>
              <a:t>Tyler Palam</a:t>
            </a:r>
          </a:p>
          <a:p>
            <a:pPr>
              <a:defRPr sz="1900">
                <a:solidFill>
                  <a:srgbClr val="AEB8CC"/>
                </a:solidFill>
              </a:defRPr>
            </a:pPr>
            <a:r>
              <a:rPr dirty="0"/>
              <a:t>ECE 205 Final Project</a:t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 rot="1080000">
            <a:off x="8229600" y="2057400"/>
            <a:ext cx="960120" cy="960120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89520" y="3886200"/>
            <a:ext cx="3383280" cy="411480"/>
          </a:xfrm>
          <a:prstGeom prst="rect">
            <a:avLst/>
          </a:prstGeom>
          <a:solidFill>
            <a:srgbClr val="2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>
            <a:off x="9326880" y="3456432"/>
            <a:ext cx="365760" cy="43891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>
            <a:off x="9738360" y="3456432"/>
            <a:ext cx="365760" cy="43891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>
            <a:off x="10149840" y="3456432"/>
            <a:ext cx="365760" cy="43891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t>ECE 205 Final Project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1. Project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5852160" cy="2103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4F7FC"/>
                </a:solidFill>
              </a:defRPr>
            </a:pPr>
            <a:r>
              <a:rPr dirty="0"/>
              <a:t>Player automatically moves forward through a scrolling obstacle course.</a:t>
            </a:r>
          </a:p>
          <a:p>
            <a:pPr>
              <a:spcAft>
                <a:spcPts val="1000"/>
              </a:spcAft>
              <a:defRPr sz="1900">
                <a:solidFill>
                  <a:srgbClr val="F4F7FC"/>
                </a:solidFill>
              </a:defRPr>
            </a:pPr>
            <a:r>
              <a:rPr dirty="0"/>
              <a:t>Space jumps; P pauses/resumes; R restarts after failure or completion.</a:t>
            </a:r>
          </a:p>
          <a:p>
            <a:pPr>
              <a:spcAft>
                <a:spcPts val="1000"/>
              </a:spcAft>
              <a:defRPr sz="1900">
                <a:solidFill>
                  <a:srgbClr val="F4F7FC"/>
                </a:solidFill>
              </a:defRPr>
            </a:pPr>
            <a:r>
              <a:rPr dirty="0"/>
              <a:t>Goal: avoid spikes, land on platforms, and reach the finish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554480"/>
            <a:ext cx="4389120" cy="100584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40880" y="1554480"/>
            <a:ext cx="64008" cy="1005840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42048" y="1700784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Core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2121408"/>
            <a:ext cx="4041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Run → jump → collide → recover or finish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743200"/>
            <a:ext cx="4389120" cy="100584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2743200"/>
            <a:ext cx="64008" cy="1005840"/>
          </a:xfrm>
          <a:prstGeom prst="rect">
            <a:avLst/>
          </a:prstGeom>
          <a:solidFill>
            <a:srgbClr val="4CD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42048" y="2889504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rPr dirty="0"/>
              <a:t>Presentation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3310128"/>
            <a:ext cx="4041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dirty="0"/>
              <a:t>Architecture, classes, relationships, patterns, and code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931920"/>
            <a:ext cx="4389120" cy="100584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40880" y="3931920"/>
            <a:ext cx="64008" cy="1005840"/>
          </a:xfrm>
          <a:prstGeom prst="rect">
            <a:avLst/>
          </a:prstGeom>
          <a:solidFill>
            <a:srgbClr val="F5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42048" y="4078224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4498848"/>
            <a:ext cx="4041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C++17 + SFML 2.6.2 + JSON level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t>ECE 205 Final Project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2. Gameplay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EB8CC"/>
                </a:solidFill>
              </a:defRPr>
            </a:pPr>
            <a:r>
              <a:rPr dirty="0"/>
              <a:t>The game loop is small; the behavior behind it is separated into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57400"/>
            <a:ext cx="1965960" cy="132588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057400"/>
            <a:ext cx="64008" cy="1325880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203704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24328"/>
            <a:ext cx="1618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SFML events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2724912"/>
            <a:ext cx="210312" cy="0"/>
          </a:xfrm>
          <a:prstGeom prst="line">
            <a:avLst/>
          </a:prstGeom>
          <a:ln w="2540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2072" y="2057400"/>
            <a:ext cx="1965960" cy="132588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62072" y="2057400"/>
            <a:ext cx="64008" cy="1325880"/>
          </a:xfrm>
          <a:prstGeom prst="rect">
            <a:avLst/>
          </a:prstGeom>
          <a:solidFill>
            <a:srgbClr val="4CD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2203704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624328"/>
            <a:ext cx="1618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physics + state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28031" y="2724912"/>
            <a:ext cx="210313" cy="0"/>
          </a:xfrm>
          <a:prstGeom prst="line">
            <a:avLst/>
          </a:prstGeom>
          <a:ln w="2540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9783" y="2057400"/>
            <a:ext cx="1965960" cy="132588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9783" y="2057400"/>
            <a:ext cx="64008" cy="1325880"/>
          </a:xfrm>
          <a:prstGeom prst="rect">
            <a:avLst/>
          </a:prstGeom>
          <a:solidFill>
            <a:srgbClr val="F5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30951" y="2203704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COLLISION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2624328"/>
            <a:ext cx="1618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platforms / spikes / finish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5744" y="2724912"/>
            <a:ext cx="210311" cy="0"/>
          </a:xfrm>
          <a:prstGeom prst="line">
            <a:avLst/>
          </a:prstGeom>
          <a:ln w="2540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97496" y="2057400"/>
            <a:ext cx="1965960" cy="132588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97496" y="2057400"/>
            <a:ext cx="64008" cy="1325880"/>
          </a:xfrm>
          <a:prstGeom prst="rect">
            <a:avLst/>
          </a:prstGeom>
          <a:solidFill>
            <a:srgbClr val="96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98664" y="2203704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CAMERA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4" y="2624328"/>
            <a:ext cx="1618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follow player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63456" y="2724912"/>
            <a:ext cx="210311" cy="0"/>
          </a:xfrm>
          <a:prstGeom prst="line">
            <a:avLst/>
          </a:prstGeom>
          <a:ln w="2540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65208" y="2057400"/>
            <a:ext cx="1965960" cy="132588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65208" y="2057400"/>
            <a:ext cx="64008" cy="132588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66376" y="2203704"/>
            <a:ext cx="1645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6" y="2624328"/>
            <a:ext cx="1618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world +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1148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7FC"/>
                </a:solidFill>
              </a:defRPr>
            </a:pPr>
            <a:r>
              <a:t>Game::run() repeatedly calculates delta time, processes input, updates the world, and renders.</a:t>
            </a:r>
          </a:p>
          <a:p>
            <a:pPr>
              <a:spcAft>
                <a:spcPts val="1000"/>
              </a:spcAft>
              <a:defRPr sz="1700">
                <a:solidFill>
                  <a:srgbClr val="F4F7FC"/>
                </a:solidFill>
              </a:defRPr>
            </a:pPr>
            <a:r>
              <a:t>GameState gates behavior so physics only advances while Playing.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rPr dirty="0"/>
              <a:t>ECE 205 Final Project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3. Class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EB8CC"/>
                </a:solidFill>
              </a:defRPr>
            </a:pPr>
            <a:r>
              <a:t>Composition keeps responsibilities separated and makes the project easier to extend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417320"/>
            <a:ext cx="2834640" cy="86868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417320"/>
            <a:ext cx="64008" cy="868680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7" y="1563624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7" y="1984248"/>
            <a:ext cx="248716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owns the main loop and coordinates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18288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880360"/>
            <a:ext cx="64008" cy="914400"/>
          </a:xfrm>
          <a:prstGeom prst="rect">
            <a:avLst/>
          </a:prstGeom>
          <a:solidFill>
            <a:srgbClr val="2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0266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Player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508760" y="2286000"/>
            <a:ext cx="4572000" cy="594360"/>
          </a:xfrm>
          <a:prstGeom prst="line">
            <a:avLst/>
          </a:prstGeom>
          <a:ln w="1905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2880360"/>
            <a:ext cx="18288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80360" y="2880360"/>
            <a:ext cx="64008" cy="914400"/>
          </a:xfrm>
          <a:prstGeom prst="rect">
            <a:avLst/>
          </a:prstGeom>
          <a:solidFill>
            <a:srgbClr val="4CD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81528" y="30266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Level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794760" y="2286000"/>
            <a:ext cx="2286000" cy="594360"/>
          </a:xfrm>
          <a:prstGeom prst="line">
            <a:avLst/>
          </a:prstGeom>
          <a:ln w="1905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66360" y="2880360"/>
            <a:ext cx="18288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66360" y="2880360"/>
            <a:ext cx="64008" cy="914400"/>
          </a:xfrm>
          <a:prstGeom prst="rect">
            <a:avLst/>
          </a:prstGeom>
          <a:solidFill>
            <a:srgbClr val="2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67528" y="30266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FinishLine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2286000"/>
            <a:ext cx="0" cy="594360"/>
          </a:xfrm>
          <a:prstGeom prst="line">
            <a:avLst/>
          </a:prstGeom>
          <a:ln w="1905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52360" y="2880360"/>
            <a:ext cx="18288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52360" y="2880360"/>
            <a:ext cx="64008" cy="914400"/>
          </a:xfrm>
          <a:prstGeom prst="rect">
            <a:avLst/>
          </a:prstGeom>
          <a:solidFill>
            <a:srgbClr val="2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53528" y="30266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Background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2286000"/>
            <a:ext cx="2286000" cy="594360"/>
          </a:xfrm>
          <a:prstGeom prst="line">
            <a:avLst/>
          </a:prstGeom>
          <a:ln w="1905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38360" y="2880360"/>
            <a:ext cx="18288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738360" y="2880360"/>
            <a:ext cx="64008" cy="914400"/>
          </a:xfrm>
          <a:prstGeom prst="rect">
            <a:avLst/>
          </a:prstGeom>
          <a:solidFill>
            <a:srgbClr val="2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39528" y="3026664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SFML UI/Audio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2286000"/>
            <a:ext cx="4572000" cy="594360"/>
          </a:xfrm>
          <a:prstGeom prst="line">
            <a:avLst/>
          </a:prstGeom>
          <a:ln w="19050"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606040" y="4617720"/>
            <a:ext cx="2011680" cy="82296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606040" y="4617720"/>
            <a:ext cx="64008" cy="822960"/>
          </a:xfrm>
          <a:prstGeom prst="rect">
            <a:avLst/>
          </a:prstGeom>
          <a:solidFill>
            <a:srgbClr val="F5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07208" y="4764024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7208" y="518464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stored by Level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4617720"/>
            <a:ext cx="2011680" cy="82296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0" y="4617720"/>
            <a:ext cx="64008" cy="82296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56048" y="4764024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Spike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5184648"/>
            <a:ext cx="16642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dirty="0"/>
              <a:t>stored by Level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3611880" y="3794760"/>
            <a:ext cx="182880" cy="822960"/>
          </a:xfrm>
          <a:prstGeom prst="line">
            <a:avLst/>
          </a:prstGeom>
          <a:ln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794760" y="3794760"/>
            <a:ext cx="1965960" cy="822960"/>
          </a:xfrm>
          <a:prstGeom prst="line">
            <a:avLst/>
          </a:prstGeom>
          <a:ln>
            <a:solidFill>
              <a:srgbClr val="AEB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t>ECE 205 Final Project  • 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64C746-0AEE-1466-47FC-781FAEAC1A9F}"/>
              </a:ext>
            </a:extLst>
          </p:cNvPr>
          <p:cNvSpPr txBox="1"/>
          <p:nvPr/>
        </p:nvSpPr>
        <p:spPr>
          <a:xfrm>
            <a:off x="5163617" y="3483864"/>
            <a:ext cx="166420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lang="en-US" dirty="0"/>
              <a:t>Essentially a tall platform</a:t>
            </a:r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B7F023-6AFE-75C4-A573-7AB7B9861E5C}"/>
              </a:ext>
            </a:extLst>
          </p:cNvPr>
          <p:cNvSpPr txBox="1"/>
          <p:nvPr/>
        </p:nvSpPr>
        <p:spPr>
          <a:xfrm>
            <a:off x="9802368" y="3372234"/>
            <a:ext cx="166420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lang="en-US" dirty="0"/>
              <a:t>Work in progress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64008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4. Key Classes &amp; Responsibilities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1207008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4008" cy="1207008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48646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Window, game loop, state transitions, collision coordination, camera, UI, audio.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212080" cy="1207008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64008" cy="1207008"/>
          </a:xfrm>
          <a:prstGeom prst="rect">
            <a:avLst/>
          </a:prstGeom>
          <a:solidFill>
            <a:srgbClr val="4CD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5636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Player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84248"/>
            <a:ext cx="48646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Position, gravity, vertical velocity, jumping, rotation, alive/onGround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98648"/>
            <a:ext cx="5212080" cy="1207008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98648"/>
            <a:ext cx="64008" cy="1207008"/>
          </a:xfrm>
          <a:prstGeom prst="rect">
            <a:avLst/>
          </a:prstGeom>
          <a:solidFill>
            <a:srgbClr val="F5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04495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65576"/>
            <a:ext cx="48646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Loads level.json and owns collections of Platform and Spike objects.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898648"/>
            <a:ext cx="5212080" cy="1207008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2898648"/>
            <a:ext cx="64008" cy="1207008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304495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Platform / Spike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465576"/>
            <a:ext cx="486460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dirty="0"/>
              <a:t>SFML shapes, bounds, drawing, and obstacle geometry.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79976"/>
            <a:ext cx="5212080" cy="1207008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379976"/>
            <a:ext cx="64008" cy="1207008"/>
          </a:xfrm>
          <a:prstGeom prst="rect">
            <a:avLst/>
          </a:prstGeom>
          <a:solidFill>
            <a:srgbClr val="96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452628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FinishLine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946904"/>
            <a:ext cx="486460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Represents the completion trigger and its collision bounds.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379976"/>
            <a:ext cx="5212080" cy="1207008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4379976"/>
            <a:ext cx="64008" cy="1207008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452628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Background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946904"/>
            <a:ext cx="486460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dirty="0"/>
              <a:t>Draws </a:t>
            </a:r>
            <a:r>
              <a:rPr lang="en-US" dirty="0"/>
              <a:t> </a:t>
            </a:r>
            <a:r>
              <a:rPr dirty="0"/>
              <a:t>scenery using a slower camera movement.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t>ECE 205 Final Project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5. Composition &amp;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2863669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EB8CC"/>
                </a:solidFill>
              </a:defRPr>
            </a:pPr>
            <a:r>
              <a:rPr dirty="0"/>
              <a:t>The strongest relationship </a:t>
            </a:r>
            <a:r>
              <a:rPr lang="en-US" dirty="0"/>
              <a:t>is </a:t>
            </a:r>
            <a:r>
              <a:rPr dirty="0"/>
              <a:t>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71507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Game contains a Player, Level, </a:t>
            </a:r>
            <a:r>
              <a:rPr dirty="0" err="1"/>
              <a:t>FinishLine</a:t>
            </a:r>
            <a:r>
              <a:rPr dirty="0"/>
              <a:t>, Background, camera, audio objects, and UI objects.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Level contains vectors of Platform and Spike objects.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Each class hides its own SFML shape and exposes focused operations such as draw(), </a:t>
            </a:r>
            <a:r>
              <a:rPr dirty="0" err="1"/>
              <a:t>getBounds</a:t>
            </a:r>
            <a:r>
              <a:rPr dirty="0"/>
              <a:t>(), jump(), or </a:t>
            </a:r>
            <a:r>
              <a:rPr dirty="0" err="1"/>
              <a:t>loadFromFile</a:t>
            </a:r>
            <a:r>
              <a:rPr dirty="0"/>
              <a:t>().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Benefit: changing level data or background rendering does not require rewriting Player physics.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600200"/>
            <a:ext cx="4480560" cy="2423160"/>
          </a:xfrm>
          <a:prstGeom prst="roundRect">
            <a:avLst/>
          </a:prstGeom>
          <a:solidFill>
            <a:srgbClr val="0A0C1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22592" y="1709928"/>
            <a:ext cx="4151376" cy="2203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1F0"/>
                </a:solidFill>
                <a:latin typeface="Menlo"/>
              </a:defRPr>
            </a:pPr>
            <a:r>
              <a:t>class Game {</a:t>
            </a:r>
            <a:br/>
            <a:r>
              <a:t>    Player player;</a:t>
            </a:r>
            <a:br/>
            <a:r>
              <a:t>    Level level;</a:t>
            </a:r>
            <a:br/>
            <a:r>
              <a:t>    FinishLine finishLine;</a:t>
            </a:r>
            <a:br/>
            <a:r>
              <a:t>    Background background;</a:t>
            </a:r>
            <a:br/>
            <a:r>
              <a:t>    GameState state;</a:t>
            </a:r>
            <a:br/>
            <a:r>
              <a:t>};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t>ECE 205 Final Project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79645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6. Design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2098460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EB8CC"/>
                </a:solidFill>
              </a:defRPr>
            </a:pPr>
            <a:r>
              <a:rPr lang="en-US" dirty="0"/>
              <a:t>A couple are still in the works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257800" cy="118872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64008" cy="1188720"/>
          </a:xfrm>
          <a:prstGeom prst="rect">
            <a:avLst/>
          </a:prstGeom>
          <a:solidFill>
            <a:srgbClr val="4CD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63624"/>
            <a:ext cx="84760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rPr dirty="0"/>
              <a:t>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84248"/>
            <a:ext cx="4910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ObjectFactory centralizes creation of level objects from data instead of scattering construction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257800" cy="118872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64008" cy="1188720"/>
          </a:xfrm>
          <a:prstGeom prst="rect">
            <a:avLst/>
          </a:prstGeom>
          <a:solidFill>
            <a:srgbClr val="4CD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563624"/>
            <a:ext cx="156408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rPr lang="en-US" dirty="0"/>
              <a:t>Game manager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464807" y="1984248"/>
            <a:ext cx="4910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t>GameState controls Start, Playing, Paused, Dead, and Complete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5257800" cy="118872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926080"/>
            <a:ext cx="64008" cy="1188720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072384"/>
            <a:ext cx="133081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rPr dirty="0"/>
              <a:t>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93008"/>
            <a:ext cx="49103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dirty="0"/>
              <a:t>Game coordinates subsystems while objects own their own behavior.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26080"/>
            <a:ext cx="5257800" cy="118872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926080"/>
            <a:ext cx="64008" cy="118872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072384"/>
            <a:ext cx="164737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rPr lang="en-US" dirty="0"/>
              <a:t>Strategy pattern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464807" y="3493008"/>
            <a:ext cx="491032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lang="en-US" dirty="0"/>
              <a:t>I plan to implement this when there are more player states made, ex. Spaceship and zig zag mode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t>ECE 205 Final Project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35742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rPr dirty="0"/>
              <a:t>7. Factory Level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4937760" cy="4160520"/>
          </a:xfrm>
          <a:prstGeom prst="roundRect">
            <a:avLst/>
          </a:prstGeom>
          <a:solidFill>
            <a:srgbClr val="0A0C1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87271" y="2116837"/>
            <a:ext cx="4608576" cy="3941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AE1F0"/>
                </a:solidFill>
                <a:latin typeface="Menlo"/>
              </a:defRPr>
            </a:pPr>
            <a:r>
              <a:rPr dirty="0"/>
              <a:t>{</a:t>
            </a:r>
            <a:br>
              <a:rPr dirty="0"/>
            </a:br>
            <a:r>
              <a:rPr dirty="0"/>
              <a:t>  "platforms": [</a:t>
            </a:r>
            <a:br>
              <a:rPr dirty="0"/>
            </a:br>
            <a:r>
              <a:rPr dirty="0"/>
              <a:t>    {"x": 0, "y": 500,</a:t>
            </a:r>
            <a:br>
              <a:rPr dirty="0"/>
            </a:br>
            <a:r>
              <a:rPr dirty="0"/>
              <a:t>     "width": 18000, "height": 100}</a:t>
            </a:r>
            <a:br>
              <a:rPr dirty="0"/>
            </a:br>
            <a:r>
              <a:rPr dirty="0"/>
              <a:t>  ],</a:t>
            </a:r>
            <a:br>
              <a:rPr dirty="0"/>
            </a:br>
            <a:r>
              <a:rPr dirty="0"/>
              <a:t>  "spikes": [</a:t>
            </a:r>
            <a:br>
              <a:rPr dirty="0"/>
            </a:br>
            <a:r>
              <a:rPr dirty="0"/>
              <a:t>    {"x": 700, "</a:t>
            </a:r>
            <a:r>
              <a:rPr dirty="0" err="1"/>
              <a:t>groundTop</a:t>
            </a:r>
            <a:r>
              <a:rPr dirty="0"/>
              <a:t>": 500}</a:t>
            </a:r>
            <a:br>
              <a:rPr dirty="0"/>
            </a:br>
            <a:r>
              <a:rPr dirty="0"/>
              <a:t>  ],</a:t>
            </a:r>
            <a:br>
              <a:rPr dirty="0"/>
            </a:br>
            <a:r>
              <a:rPr dirty="0"/>
              <a:t>  "finish": {</a:t>
            </a:r>
            <a:br>
              <a:rPr dirty="0"/>
            </a:br>
            <a:r>
              <a:rPr dirty="0"/>
              <a:t>    "x": 18000,</a:t>
            </a:r>
            <a:br>
              <a:rPr dirty="0"/>
            </a:br>
            <a:r>
              <a:rPr dirty="0"/>
              <a:t>    "</a:t>
            </a:r>
            <a:r>
              <a:rPr dirty="0" err="1"/>
              <a:t>groundTop</a:t>
            </a:r>
            <a:r>
              <a:rPr dirty="0"/>
              <a:t>": 500</a:t>
            </a:r>
            <a:br>
              <a:rPr dirty="0"/>
            </a:br>
            <a:r>
              <a:rPr dirty="0"/>
              <a:t>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54480"/>
            <a:ext cx="530352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Level::</a:t>
            </a:r>
            <a:r>
              <a:rPr dirty="0" err="1"/>
              <a:t>loadFromFile</a:t>
            </a:r>
            <a:r>
              <a:rPr dirty="0"/>
              <a:t>() </a:t>
            </a:r>
            <a:r>
              <a:rPr lang="en-US" dirty="0"/>
              <a:t>reads/</a:t>
            </a:r>
            <a:r>
              <a:rPr dirty="0"/>
              <a:t>parses </a:t>
            </a:r>
            <a:r>
              <a:rPr dirty="0" err="1"/>
              <a:t>level.json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Object creation is separated from the main game loop.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The level can be redesigned without recompiling gameplay logic.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rPr dirty="0"/>
              <a:t>ECE 205 Final Project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8. Physics &amp; Collision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175426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EB8CC"/>
                </a:solidFill>
              </a:defRPr>
            </a:pPr>
            <a:r>
              <a:rPr dirty="0"/>
              <a:t>A small amount of math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5120640" cy="1691640"/>
          </a:xfrm>
          <a:prstGeom prst="roundRect">
            <a:avLst/>
          </a:prstGeom>
          <a:solidFill>
            <a:srgbClr val="0A0C1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72768"/>
            <a:ext cx="4791455" cy="1472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1F0"/>
                </a:solidFill>
                <a:latin typeface="Menlo"/>
              </a:defRPr>
            </a:pPr>
            <a:r>
              <a:t>verticalVelocity += gravity * deltaTime;</a:t>
            </a:r>
            <a:br/>
            <a:br/>
            <a:r>
              <a:t>box.move(</a:t>
            </a:r>
            <a:br/>
            <a:r>
              <a:t>    horizontalSpeed * deltaTime,</a:t>
            </a:r>
            <a:br/>
            <a:r>
              <a:t>    verticalVelocity * deltaTime</a:t>
            </a:r>
            <a:br/>
            <a:r>
              <a:t>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5120640" cy="1920240"/>
          </a:xfrm>
          <a:prstGeom prst="roundRect">
            <a:avLst/>
          </a:prstGeom>
          <a:solidFill>
            <a:srgbClr val="0A0C1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584448"/>
            <a:ext cx="4791455" cy="1700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AE1F0"/>
                </a:solidFill>
                <a:latin typeface="Menlo"/>
              </a:defRPr>
            </a:pPr>
            <a:r>
              <a:t>bool cameFromAbove =</a:t>
            </a:r>
            <a:br/>
            <a:r>
              <a:t>    previousBottom &lt;= platformTop &amp;&amp;</a:t>
            </a:r>
            <a:br/>
            <a:r>
              <a:t>    currentBottom &gt;= platformTop;</a:t>
            </a:r>
            <a:br/>
            <a:br/>
            <a:r>
              <a:t>if (cameFromAbove)</a:t>
            </a:r>
            <a:br/>
            <a:r>
              <a:t>    player.landOn(platformTop);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002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t>deltaTime makes movement frame-rate independent.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t>Previous bounds distinguish landing from simple rectangle overlap.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t>Spike intersection transitions the game to Dead.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t>Finish-line intersection transitions the game to Complete.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t>ECE 205 Final Project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9. State Management &amp;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EB8CC"/>
                </a:solidFill>
              </a:defRPr>
            </a:pPr>
            <a:r>
              <a:t>One enum controls the high-level lifecycle of the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20574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64008" cy="914400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06654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920240"/>
            <a:ext cx="20574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34639" y="1920240"/>
            <a:ext cx="64008" cy="914400"/>
          </a:xfrm>
          <a:prstGeom prst="rect">
            <a:avLst/>
          </a:prstGeom>
          <a:solidFill>
            <a:srgbClr val="4CD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35808" y="206654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PLAYING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920240"/>
            <a:ext cx="20574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59" y="1920240"/>
            <a:ext cx="64008" cy="914400"/>
          </a:xfrm>
          <a:prstGeom prst="rect">
            <a:avLst/>
          </a:prstGeom>
          <a:solidFill>
            <a:srgbClr val="F5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67527" y="206654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PAUSED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920240"/>
            <a:ext cx="20574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1920240"/>
            <a:ext cx="64008" cy="91440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206654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DEAD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920240"/>
            <a:ext cx="2057400" cy="91440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29800" y="1920240"/>
            <a:ext cx="64008" cy="914400"/>
          </a:xfrm>
          <a:prstGeom prst="rect">
            <a:avLst/>
          </a:prstGeom>
          <a:solidFill>
            <a:srgbClr val="96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30968" y="2066544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7FC"/>
                </a:solidFill>
              </a:defRPr>
            </a:pPr>
            <a:r>
              <a:t>Space: starts the level or jumps when Playing.</a:t>
            </a:r>
          </a:p>
          <a:p>
            <a:pPr>
              <a:spcAft>
                <a:spcPts val="1000"/>
              </a:spcAft>
              <a:defRPr sz="1700">
                <a:solidFill>
                  <a:srgbClr val="F4F7FC"/>
                </a:solidFill>
              </a:defRPr>
            </a:pPr>
            <a:r>
              <a:t>P: toggles Playing ↔ Paused and pauses/resumes music.</a:t>
            </a:r>
          </a:p>
          <a:p>
            <a:pPr>
              <a:spcAft>
                <a:spcPts val="1000"/>
              </a:spcAft>
              <a:defRPr sz="1700">
                <a:solidFill>
                  <a:srgbClr val="F4F7FC"/>
                </a:solidFill>
              </a:defRPr>
            </a:pPr>
            <a:r>
              <a:t>R: resets player, camera, progress bar, and game state.</a:t>
            </a:r>
          </a:p>
          <a:p>
            <a:pPr>
              <a:spcAft>
                <a:spcPts val="1000"/>
              </a:spcAft>
              <a:defRPr sz="1700">
                <a:solidFill>
                  <a:srgbClr val="F4F7FC"/>
                </a:solidFill>
              </a:defRPr>
            </a:pPr>
            <a:r>
              <a:t>Only Playing executes physics and collision updates.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t>ECE 205 Final Project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1789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. Challenges &amp; Lessons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0704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Collision detection required tracking both current and previous player bounds.</a:t>
            </a:r>
            <a:endParaRPr lang="en-US" dirty="0"/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lang="en-US" dirty="0"/>
              <a:t>This required me to understand the coordinate system where 0,0 is the top left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A Game class reduced the complexity that accumulated in </a:t>
            </a:r>
            <a:r>
              <a:rPr dirty="0" err="1"/>
              <a:t>main.cpp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JSON made level iteration much faster than hard-coding every obstacle</a:t>
            </a:r>
            <a:r>
              <a:rPr lang="en-US" dirty="0"/>
              <a:t> (a text file could have been just as good I think)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4F7FC"/>
                </a:solidFill>
              </a:defRPr>
            </a:pPr>
            <a:r>
              <a:rPr dirty="0"/>
              <a:t>State management prevented input, physics, and UI from interfering with one another.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29715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rPr dirty="0"/>
              <a:t>ECE 205 Final Project  •  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96696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1028700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sosceles Triangle 5"/>
          <p:cNvSpPr/>
          <p:nvPr/>
        </p:nvSpPr>
        <p:spPr>
          <a:xfrm>
            <a:off x="10607040" y="6016752"/>
            <a:ext cx="256032" cy="347472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995" y="4069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C"/>
                </a:solidFill>
              </a:defRPr>
            </a:pPr>
            <a:r>
              <a:t>12. What I Would Improve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" y="1508760"/>
            <a:ext cx="5212080" cy="123444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3796" y="1531620"/>
            <a:ext cx="64008" cy="1234440"/>
          </a:xfrm>
          <a:prstGeom prst="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" y="153162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rPr dirty="0"/>
              <a:t>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686" y="1977612"/>
            <a:ext cx="486460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lang="en-US" dirty="0"/>
              <a:t>Strategy will be the big one when expanding player states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5212080" cy="123444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80360"/>
            <a:ext cx="64008" cy="1234440"/>
          </a:xfrm>
          <a:prstGeom prst="rect">
            <a:avLst/>
          </a:prstGeom>
          <a:solidFill>
            <a:srgbClr val="4CD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02666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Gameplay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47288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dirty="0"/>
              <a:t>Add pits/fall death, side collisions, checkpoints, and more obstacle types.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6124" y="1531620"/>
            <a:ext cx="5212080" cy="123444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26124" y="1531620"/>
            <a:ext cx="64008" cy="1234440"/>
          </a:xfrm>
          <a:prstGeom prst="rect">
            <a:avLst/>
          </a:prstGeom>
          <a:solidFill>
            <a:srgbClr val="F5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27292" y="16779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Assets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7292" y="2098548"/>
            <a:ext cx="4864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dirty="0"/>
              <a:t>Replace primitive shapes with textures/animations and expand audio polish.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89120"/>
            <a:ext cx="5212080" cy="1234440"/>
          </a:xfrm>
          <a:prstGeom prst="roundRect">
            <a:avLst/>
          </a:prstGeom>
          <a:solidFill>
            <a:srgbClr val="1C2134"/>
          </a:solidFill>
          <a:ln>
            <a:solidFill>
              <a:srgbClr val="26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389120"/>
            <a:ext cx="64008" cy="1234440"/>
          </a:xfrm>
          <a:prstGeom prst="rect">
            <a:avLst/>
          </a:prstGeom>
          <a:solidFill>
            <a:srgbClr val="96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45354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C"/>
                </a:solidFill>
              </a:defRPr>
            </a:pPr>
            <a:r>
              <a:t>Level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956048"/>
            <a:ext cx="486460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EB8CC"/>
                </a:solidFill>
              </a:defRPr>
            </a:pPr>
            <a:r>
              <a:rPr dirty="0"/>
              <a:t>Create a simple editor  for easier level</a:t>
            </a:r>
            <a:r>
              <a:rPr lang="en-US" dirty="0"/>
              <a:t> building</a:t>
            </a:r>
            <a:r>
              <a:rPr dirty="0"/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29715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8CC"/>
                </a:solidFill>
              </a:defRPr>
            </a:pPr>
            <a:r>
              <a:rPr dirty="0"/>
              <a:t>ECE 205 Final Project  •  1</a:t>
            </a: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F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9612351" y="5742878"/>
            <a:ext cx="610641" cy="621346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0740" y="4786083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0D7E6"/>
                </a:solidFill>
              </a:defRPr>
            </a:pPr>
            <a:r>
              <a:rPr dirty="0"/>
              <a:t>Questions?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F318E8-C65B-B861-7EF6-A30520F7C13B}"/>
              </a:ext>
            </a:extLst>
          </p:cNvPr>
          <p:cNvSpPr/>
          <p:nvPr/>
        </p:nvSpPr>
        <p:spPr>
          <a:xfrm rot="20007931">
            <a:off x="9567746" y="3640875"/>
            <a:ext cx="960120" cy="960120"/>
          </a:xfrm>
          <a:prstGeom prst="rect">
            <a:avLst/>
          </a:prstGeom>
          <a:solidFill>
            <a:srgbClr val="30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3">
            <a:extLst>
              <a:ext uri="{FF2B5EF4-FFF2-40B4-BE49-F238E27FC236}">
                <a16:creationId xmlns:a16="http://schemas.microsoft.com/office/drawing/2014/main" id="{DA8AF8CB-EB6C-B015-A573-F2407430ECC6}"/>
              </a:ext>
            </a:extLst>
          </p:cNvPr>
          <p:cNvSpPr/>
          <p:nvPr/>
        </p:nvSpPr>
        <p:spPr>
          <a:xfrm>
            <a:off x="10222992" y="5738306"/>
            <a:ext cx="610641" cy="621346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sosceles Triangle 3">
            <a:extLst>
              <a:ext uri="{FF2B5EF4-FFF2-40B4-BE49-F238E27FC236}">
                <a16:creationId xmlns:a16="http://schemas.microsoft.com/office/drawing/2014/main" id="{AF2A8BF5-4E85-B0E7-7032-F4DD679F5D18}"/>
              </a:ext>
            </a:extLst>
          </p:cNvPr>
          <p:cNvSpPr/>
          <p:nvPr/>
        </p:nvSpPr>
        <p:spPr>
          <a:xfrm>
            <a:off x="10833633" y="5729162"/>
            <a:ext cx="610641" cy="621346"/>
          </a:xfrm>
          <a:prstGeom prst="triangl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2760</TotalTime>
  <Words>965</Words>
  <Application>Microsoft Macintosh PowerPoint</Application>
  <PresentationFormat>Widescreen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 Palam</dc:creator>
  <cp:keywords/>
  <dc:description/>
  <cp:lastModifiedBy>Student CA</cp:lastModifiedBy>
  <cp:revision>4</cp:revision>
  <dcterms:created xsi:type="dcterms:W3CDTF">2013-01-27T09:14:16Z</dcterms:created>
  <dcterms:modified xsi:type="dcterms:W3CDTF">2026-08-14T18:17:08Z</dcterms:modified>
  <cp:category/>
</cp:coreProperties>
</file>